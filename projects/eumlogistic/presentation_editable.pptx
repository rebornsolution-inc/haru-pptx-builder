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061" autoAdjust="0"/>
  </p:normalViewPr>
  <p:slideViewPr>
    <p:cSldViewPr snapToGrid="0" snapToObjects="1">
      <p:cViewPr varScale="1">
        <p:scale>
          <a:sx n="74" d="100"/>
          <a:sy n="74" d="100"/>
        </p:scale>
        <p:origin x="1956" y="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BAA6FA-2DED-4FC5-B1CC-283D9552E8E5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8EF7A1-D5B6-41D2-8FC5-576E48215A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672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EF7A1-D5B6-41D2-8FC5-576E48215A1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75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Pretendard"/>
              </a:defRPr>
            </a:pPr>
            <a:r>
              <a:t>E-UM LOGISTIC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335819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0" y="138153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FFFFFF"/>
                </a:solidFill>
                <a:latin typeface="Pretendard"/>
              </a:defRPr>
            </a:pPr>
            <a:r>
              <a:t>✦ 신뢰할 수 있는 물류 파트너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75899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5320" b="1">
                <a:solidFill>
                  <a:srgbClr val="FFFFFF"/>
                </a:solidFill>
                <a:latin typeface="Pretendard"/>
              </a:defRPr>
            </a:pPr>
            <a:r>
              <a:t>글로벌 물류의 새로운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90299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4180" b="1">
                <a:solidFill>
                  <a:srgbClr val="7B8BFF"/>
                </a:solidFill>
                <a:latin typeface="Pretendard"/>
              </a:defRPr>
            </a:pPr>
            <a:r>
              <a:t>이음로지스틱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713259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709" b="0">
                <a:solidFill>
                  <a:srgbClr val="94A3B8"/>
                </a:solidFill>
                <a:latin typeface="Pretendard"/>
              </a:defRPr>
            </a:pPr>
            <a:r>
              <a:t>해상・항공 포워딩부터 내륙운송, 물류 인프라까지</a:t>
            </a:r>
          </a:p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709" b="0">
                <a:solidFill>
                  <a:srgbClr val="94A3B8"/>
                </a:solidFill>
                <a:latin typeface="Pretendard"/>
              </a:defRPr>
            </a:pPr>
            <a:r>
              <a:t>고객의 화물에 최적화된 토탈 물류 솔루션을 제공합니다.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627659"/>
            <a:ext cx="5029200" cy="204746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627659"/>
            <a:ext cx="5029200" cy="20474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330" b="1">
                <a:solidFill>
                  <a:srgbClr val="5B6CF9"/>
                </a:solidFill>
                <a:latin typeface="Pretendard"/>
              </a:defRPr>
            </a:pPr>
            <a:r>
              <a:t>COMPANY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E293B"/>
                </a:solidFill>
                <a:latin typeface="Pretendard"/>
              </a:defRPr>
            </a:pPr>
            <a:r>
              <a:t>이음로지스틱 주식회사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709" b="0">
                <a:solidFill>
                  <a:srgbClr val="64748B"/>
                </a:solidFill>
                <a:latin typeface="Pretendard"/>
              </a:defRPr>
            </a:pPr>
            <a:r>
              <a:t>국제 포워딩 전문 기업으로서 해상・항공 물류의 모든 것을 책임집니다.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11887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5B6CF9"/>
                </a:solidFill>
                <a:latin typeface="Pretendard"/>
              </a:defRPr>
            </a:pPr>
            <a:r>
              <a:t>🏢 본사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1E293B"/>
                </a:solidFill>
                <a:latin typeface="Pretendard"/>
              </a:defRPr>
            </a:pPr>
            <a:r>
              <a:t>서울 강서구 마곡중앙로 161-8</a:t>
            </a:r>
          </a:p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1E293B"/>
                </a:solidFill>
                <a:latin typeface="Pretendard"/>
              </a:defRPr>
            </a:pPr>
            <a:r>
              <a:t>두산더랜드파크 B동 510호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103120"/>
            <a:ext cx="5029200" cy="11887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5B6CF9"/>
                </a:solidFill>
                <a:latin typeface="Pretendard"/>
              </a:defRPr>
            </a:pPr>
            <a:r>
              <a:t>📍 부산지사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060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1E293B"/>
                </a:solidFill>
                <a:latin typeface="Pretendard"/>
              </a:defRPr>
            </a:pPr>
            <a:r>
              <a:t>경남 창원시 진해구 신항7로 63</a:t>
            </a:r>
          </a:p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1E293B"/>
                </a:solidFill>
                <a:latin typeface="Pretendard"/>
              </a:defRPr>
            </a:pPr>
            <a:r>
              <a:t>MS디스트리파크 용동물류센터 206호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029200" cy="11887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5B6CF9"/>
                </a:solidFill>
                <a:latin typeface="Pretendard"/>
              </a:defRPr>
            </a:pPr>
            <a:r>
              <a:t>📞 연락처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1E293B"/>
                </a:solidFill>
                <a:latin typeface="Pretendard"/>
              </a:defRPr>
            </a:pPr>
            <a:r>
              <a:t>Tel: +82 2 3662 8150~5</a:t>
            </a:r>
          </a:p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1E293B"/>
                </a:solidFill>
                <a:latin typeface="Pretendard"/>
              </a:defRPr>
            </a:pPr>
            <a:r>
              <a:t>Fax: +82 2 6442 8153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474720"/>
            <a:ext cx="5029200" cy="11887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5B6CF9"/>
                </a:solidFill>
                <a:latin typeface="Pretendard"/>
              </a:defRPr>
            </a:pPr>
            <a:r>
              <a:t>✉️ 이메일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9776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1E293B"/>
                </a:solidFill>
                <a:latin typeface="Pretendard"/>
              </a:defRPr>
            </a:pPr>
            <a:r>
              <a:t>info@e-umlk.com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206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5432727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040" b="1">
                <a:solidFill>
                  <a:srgbClr val="5B6CF9"/>
                </a:solidFill>
                <a:latin typeface="Pretendard"/>
              </a:defRPr>
            </a:pPr>
            <a:r>
              <a:t>2020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93564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64748B"/>
                </a:solidFill>
                <a:latin typeface="Pretendard"/>
              </a:defRPr>
            </a:pPr>
            <a:r>
              <a:t>설립연도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432727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040" b="1">
                <a:solidFill>
                  <a:srgbClr val="5B6CF9"/>
                </a:solidFill>
                <a:latin typeface="Pretendard"/>
              </a:defRPr>
            </a:pPr>
            <a:r>
              <a:t>35억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93564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64748B"/>
                </a:solidFill>
                <a:latin typeface="Pretendard"/>
              </a:defRPr>
            </a:pPr>
            <a:r>
              <a:t>연평균 매출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432727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040" b="1">
                <a:solidFill>
                  <a:srgbClr val="5B6CF9"/>
                </a:solidFill>
                <a:latin typeface="Pretendard"/>
              </a:defRPr>
            </a:pPr>
            <a:r>
              <a:t>7명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93564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64748B"/>
                </a:solidFill>
                <a:latin typeface="Pretendard"/>
              </a:defRPr>
            </a:pPr>
            <a:r>
              <a:t>전문 인력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432727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040" b="1">
                <a:solidFill>
                  <a:srgbClr val="5B6CF9"/>
                </a:solidFill>
                <a:latin typeface="Pretendard"/>
              </a:defRPr>
            </a:pPr>
            <a:r>
              <a:t>3.3억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93564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64748B"/>
                </a:solidFill>
                <a:latin typeface="Pretendard"/>
              </a:defRPr>
            </a:pPr>
            <a:r>
              <a:t>자본금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330" b="1">
                <a:solidFill>
                  <a:srgbClr val="5B6CF9"/>
                </a:solidFill>
                <a:latin typeface="Pretendard"/>
              </a:defRPr>
            </a:pPr>
            <a:r>
              <a:t>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Pretendard"/>
              </a:defRPr>
            </a:pPr>
            <a:r>
              <a:t>빠르게 성장하는 물류 파트너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709" b="0">
                <a:solidFill>
                  <a:srgbClr val="94A3B8"/>
                </a:solidFill>
                <a:latin typeface="Pretendard"/>
              </a:defRPr>
            </a:pPr>
            <a:r>
              <a:t>설립 5년 만에 20개 이상의 주요 고객사와 글로벌 네트워크 구축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2888307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2943171"/>
            <a:ext cx="1691640" cy="27432"/>
          </a:xfrm>
          <a:prstGeom prst="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162627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2850" b="1">
                <a:solidFill>
                  <a:srgbClr val="5B6CF9"/>
                </a:solidFill>
                <a:latin typeface="Pretendard"/>
              </a:defRPr>
            </a:pPr>
            <a:r>
              <a:t>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6554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520" b="1">
                <a:solidFill>
                  <a:srgbClr val="FFFFFF"/>
                </a:solidFill>
                <a:latin typeface="Pretendard"/>
              </a:defRPr>
            </a:pPr>
            <a:r>
              <a:t>이음로지스틱 설립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22747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0">
                <a:solidFill>
                  <a:srgbClr val="94A3B8"/>
                </a:solidFill>
                <a:latin typeface="Pretendard"/>
              </a:defRPr>
            </a:pPr>
            <a:r>
              <a:t>롯데웰푸드 계약</a:t>
            </a:r>
          </a:p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0">
                <a:solidFill>
                  <a:srgbClr val="94A3B8"/>
                </a:solidFill>
                <a:latin typeface="Pretendard"/>
              </a:defRPr>
            </a:pPr>
            <a:r>
              <a:t>가온전선 계약</a:t>
            </a:r>
          </a:p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0">
                <a:solidFill>
                  <a:srgbClr val="94A3B8"/>
                </a:solidFill>
                <a:latin typeface="Pretendard"/>
              </a:defRPr>
            </a:pPr>
            <a:r>
              <a:t>MS디스트리파크 협력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2888307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0" y="2943171"/>
            <a:ext cx="1691640" cy="27432"/>
          </a:xfrm>
          <a:prstGeom prst="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0" y="3162627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2850" b="1">
                <a:solidFill>
                  <a:srgbClr val="5B6CF9"/>
                </a:solidFill>
                <a:latin typeface="Pretendard"/>
              </a:defRPr>
            </a:pPr>
            <a:r>
              <a:t>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66554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520" b="1">
                <a:solidFill>
                  <a:srgbClr val="FFFFFF"/>
                </a:solidFill>
                <a:latin typeface="Pretendard"/>
              </a:defRPr>
            </a:pPr>
            <a:r>
              <a:t>부산 지사 설립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122747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0">
                <a:solidFill>
                  <a:srgbClr val="94A3B8"/>
                </a:solidFill>
                <a:latin typeface="Pretendard"/>
              </a:defRPr>
            </a:pPr>
            <a:r>
              <a:t>신항 물류 거점 확보</a:t>
            </a:r>
          </a:p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0">
                <a:solidFill>
                  <a:srgbClr val="94A3B8"/>
                </a:solidFill>
                <a:latin typeface="Pretendard"/>
              </a:defRPr>
            </a:pPr>
            <a:r>
              <a:t>비제이신항 협력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888307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0" y="2943171"/>
            <a:ext cx="1691640" cy="27432"/>
          </a:xfrm>
          <a:prstGeom prst="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0" y="3162627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2850" b="1">
                <a:solidFill>
                  <a:srgbClr val="5B6CF9"/>
                </a:solidFill>
                <a:latin typeface="Pretendard"/>
              </a:defRPr>
            </a:pPr>
            <a:r>
              <a:t>2022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66554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520" b="1">
                <a:solidFill>
                  <a:srgbClr val="FFFFFF"/>
                </a:solidFill>
                <a:latin typeface="Pretendard"/>
              </a:defRPr>
            </a:pPr>
            <a:r>
              <a:t>사업 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122747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0">
                <a:solidFill>
                  <a:srgbClr val="94A3B8"/>
                </a:solidFill>
                <a:latin typeface="Pretendard"/>
              </a:defRPr>
            </a:pPr>
            <a:r>
              <a:t>삼양식품</a:t>
            </a:r>
          </a:p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0">
                <a:solidFill>
                  <a:srgbClr val="94A3B8"/>
                </a:solidFill>
                <a:latin typeface="Pretendard"/>
              </a:defRPr>
            </a:pPr>
            <a:r>
              <a:t>통합물류 계약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2888307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0" y="2943171"/>
            <a:ext cx="1691640" cy="27432"/>
          </a:xfrm>
          <a:prstGeom prst="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0" y="3162627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2850" b="1">
                <a:solidFill>
                  <a:srgbClr val="5B6CF9"/>
                </a:solidFill>
                <a:latin typeface="Pretendard"/>
              </a:defRPr>
            </a:pPr>
            <a:r>
              <a:t>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66554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520" b="1">
                <a:solidFill>
                  <a:srgbClr val="FFFFFF"/>
                </a:solidFill>
                <a:latin typeface="Pretendard"/>
              </a:defRPr>
            </a:pPr>
            <a:r>
              <a:t>글로벌 진출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122747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0">
                <a:solidFill>
                  <a:srgbClr val="94A3B8"/>
                </a:solidFill>
                <a:latin typeface="Pretendard"/>
              </a:defRPr>
            </a:pPr>
            <a:r>
              <a:t>태국 YC리사이클</a:t>
            </a:r>
          </a:p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0">
                <a:solidFill>
                  <a:srgbClr val="94A3B8"/>
                </a:solidFill>
                <a:latin typeface="Pretendard"/>
              </a:defRPr>
            </a:pPr>
            <a:r>
              <a:t>파트너십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49640" y="2888307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686800" y="2943171"/>
            <a:ext cx="1691640" cy="27432"/>
          </a:xfrm>
          <a:prstGeom prst="rect">
            <a:avLst/>
          </a:prstGeom>
          <a:solidFill>
            <a:srgbClr val="3D4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3162627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2850" b="1">
                <a:solidFill>
                  <a:srgbClr val="5B6CF9"/>
                </a:solidFill>
                <a:latin typeface="Pretendard"/>
              </a:defRPr>
            </a:pPr>
            <a:r>
              <a:t>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66554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520" b="1">
                <a:solidFill>
                  <a:srgbClr val="FFFFFF"/>
                </a:solidFill>
                <a:latin typeface="Pretendard"/>
              </a:defRPr>
            </a:pPr>
            <a:r>
              <a:t>인프라 강화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122747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0">
                <a:solidFill>
                  <a:srgbClr val="94A3B8"/>
                </a:solidFill>
                <a:latin typeface="Pretendard"/>
              </a:defRPr>
            </a:pPr>
            <a:r>
              <a:t>페트로마인</a:t>
            </a:r>
          </a:p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0">
                <a:solidFill>
                  <a:srgbClr val="94A3B8"/>
                </a:solidFill>
                <a:latin typeface="Pretendard"/>
              </a:defRPr>
            </a:pPr>
            <a:r>
              <a:t>물류 인프라 구축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78440" y="2888307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5B6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0" y="3162627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2850" b="1">
                <a:solidFill>
                  <a:srgbClr val="5B6CF9"/>
                </a:solidFill>
                <a:latin typeface="Pretendard"/>
              </a:defRPr>
            </a:pPr>
            <a:r>
              <a:t>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66554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520" b="1">
                <a:solidFill>
                  <a:srgbClr val="FFFFFF"/>
                </a:solidFill>
                <a:latin typeface="Pretendard"/>
              </a:defRPr>
            </a:pPr>
            <a:r>
              <a:t>서비스 다각화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122747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0">
                <a:solidFill>
                  <a:srgbClr val="94A3B8"/>
                </a:solidFill>
                <a:latin typeface="Pretendard"/>
              </a:defRPr>
            </a:pPr>
            <a:r>
              <a:t>광메탈 운송 계약</a:t>
            </a:r>
          </a:p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0">
                <a:solidFill>
                  <a:srgbClr val="94A3B8"/>
                </a:solidFill>
                <a:latin typeface="Pretendard"/>
              </a:defRPr>
            </a:pPr>
            <a:r>
              <a:t>삼성헬스토리 냉동물류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330" b="1">
                <a:solidFill>
                  <a:srgbClr val="5B6CF9"/>
                </a:solidFill>
                <a:latin typeface="Pretendard"/>
              </a:defRPr>
            </a:pPr>
            <a:r>
              <a:t>WHY E-UM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E293B"/>
                </a:solidFill>
                <a:latin typeface="Pretendard"/>
              </a:defRPr>
            </a:pPr>
            <a:r>
              <a:t>신뢰를 잇는 물류,</a:t>
            </a:r>
          </a:p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E293B"/>
                </a:solidFill>
                <a:latin typeface="Pretendard"/>
              </a:defRPr>
            </a:pPr>
            <a:r>
              <a:t>가치를 잇는 파트너십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614" b="0">
                <a:solidFill>
                  <a:srgbClr val="64748B"/>
                </a:solidFill>
                <a:latin typeface="Pretendard"/>
              </a:defRPr>
            </a:pPr>
            <a:r>
              <a:t>NVOCC(Non-Vessel Operating Common Carrier)로서 해상・항공 수출입 화물운송의 풍부한 경험으로 신뢰할 수 있는 서비스를 제공합니다.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17520"/>
            <a:ext cx="3474720" cy="3200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28800" y="3383280"/>
            <a:ext cx="1097280" cy="1097280"/>
          </a:xfrm>
          <a:prstGeom prst="roundRect">
            <a:avLst>
              <a:gd name="adj" fmla="val 20000"/>
            </a:avLst>
          </a:prstGeom>
          <a:solidFill>
            <a:srgbClr val="EE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35204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E293B"/>
                </a:solidFill>
                <a:latin typeface="Pretendard"/>
              </a:defRPr>
            </a:pPr>
            <a:r>
              <a:t>🛡️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2090" b="1">
                <a:solidFill>
                  <a:srgbClr val="1E293B"/>
                </a:solidFill>
                <a:latin typeface="Pretendard"/>
              </a:defRPr>
            </a:pPr>
            <a:r>
              <a:t>신뢰성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48B"/>
                </a:solidFill>
                <a:latin typeface="Pretendard"/>
              </a:defRPr>
            </a:pPr>
            <a:r>
              <a:t>20개 이상의 주요 고객사가 선택한 검증된 물류 파트너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017520"/>
            <a:ext cx="3474720" cy="3200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0" y="3383280"/>
            <a:ext cx="1097280" cy="1097280"/>
          </a:xfrm>
          <a:prstGeom prst="roundRect">
            <a:avLst>
              <a:gd name="adj" fmla="val 20000"/>
            </a:avLst>
          </a:prstGeom>
          <a:solidFill>
            <a:srgbClr val="EE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0" y="35204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E293B"/>
                </a:solidFill>
                <a:latin typeface="Pretendard"/>
              </a:defRPr>
            </a:pPr>
            <a:r>
              <a:t>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663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2090" b="1">
                <a:solidFill>
                  <a:srgbClr val="1E293B"/>
                </a:solidFill>
                <a:latin typeface="Pretendard"/>
              </a:defRPr>
            </a:pPr>
            <a:r>
              <a:t>글로벌 네트워크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5212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48B"/>
                </a:solidFill>
                <a:latin typeface="Pretendard"/>
              </a:defRPr>
            </a:pPr>
            <a:r>
              <a:t>5개 대륙, 30개국 이상의 파트너사와 함께하는 글로벌 물류망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017520"/>
            <a:ext cx="3474720" cy="3200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509760" y="3383280"/>
            <a:ext cx="1097280" cy="1097280"/>
          </a:xfrm>
          <a:prstGeom prst="roundRect">
            <a:avLst>
              <a:gd name="adj" fmla="val 20000"/>
            </a:avLst>
          </a:prstGeom>
          <a:solidFill>
            <a:srgbClr val="EE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0" y="35204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E293B"/>
                </a:solidFill>
                <a:latin typeface="Pretendard"/>
              </a:defRPr>
            </a:pPr>
            <a: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663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2090" b="1">
                <a:solidFill>
                  <a:srgbClr val="1E293B"/>
                </a:solidFill>
                <a:latin typeface="Pretendard"/>
              </a:defRPr>
            </a:pPr>
            <a:r>
              <a:t>전문성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212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4748B"/>
                </a:solidFill>
                <a:latin typeface="Pretendard"/>
              </a:defRPr>
            </a:pPr>
            <a:r>
              <a:t>해상・항공・특수화물까지 토탈 포워딩 솔루션 제공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330" b="1">
                <a:solidFill>
                  <a:srgbClr val="5B6CF9"/>
                </a:solidFill>
                <a:latin typeface="Pretendard"/>
              </a:defRPr>
            </a:pPr>
            <a:r>
              <a:t>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419" b="1">
                <a:solidFill>
                  <a:srgbClr val="1E293B"/>
                </a:solidFill>
                <a:latin typeface="Pretendard"/>
              </a:defRPr>
            </a:pPr>
            <a:r>
              <a:t>통합 물류 서비스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3840480" cy="4937760"/>
          </a:xfrm>
          <a:prstGeom prst="round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54480"/>
            <a:ext cx="3840480" cy="4937760"/>
          </a:xfrm>
          <a:prstGeom prst="roundRect">
            <a:avLst>
              <a:gd name="adj" fmla="val 16000"/>
            </a:avLst>
          </a:prstGeom>
          <a:solidFill>
            <a:srgbClr val="5B6CF9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75885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040" b="0">
                <a:solidFill>
                  <a:srgbClr val="1E293B"/>
                </a:solidFill>
                <a:latin typeface="Pretendard"/>
              </a:defRPr>
            </a:pPr>
            <a:r>
              <a:t>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6177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2470" b="1">
                <a:solidFill>
                  <a:srgbClr val="FFFFFF"/>
                </a:solidFill>
                <a:latin typeface="Pretendard"/>
              </a:defRPr>
            </a:pPr>
            <a:r>
              <a:rPr dirty="0" err="1"/>
              <a:t>해상</a:t>
            </a:r>
            <a:r>
              <a:rPr dirty="0"/>
              <a:t> </a:t>
            </a:r>
            <a:r>
              <a:rPr dirty="0" err="1"/>
              <a:t>포워딩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571897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139" b="0">
                <a:solidFill>
                  <a:srgbClr val="FFFFFF"/>
                </a:solidFill>
                <a:latin typeface="Pretendard"/>
              </a:defRPr>
            </a:pPr>
            <a:r>
              <a:t>Ocean Freight Forwarding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9329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045" b="0">
                <a:solidFill>
                  <a:srgbClr val="FFFFFF"/>
                </a:solidFill>
                <a:latin typeface="Pretendard"/>
              </a:defRPr>
            </a:pPr>
            <a:r>
              <a:rPr dirty="0"/>
              <a:t>FCL/LCL </a:t>
            </a:r>
            <a:r>
              <a:rPr dirty="0" err="1"/>
              <a:t>수출입</a:t>
            </a:r>
            <a:r>
              <a:rPr dirty="0"/>
              <a:t>, </a:t>
            </a:r>
            <a:r>
              <a:rPr dirty="0" err="1"/>
              <a:t>정기선</a:t>
            </a:r>
            <a:r>
              <a:rPr dirty="0"/>
              <a:t> </a:t>
            </a:r>
            <a:r>
              <a:rPr dirty="0" err="1"/>
              <a:t>서비스</a:t>
            </a:r>
            <a:endParaRPr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554480"/>
            <a:ext cx="3474720" cy="2286000"/>
          </a:xfrm>
          <a:prstGeom prst="round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754880" y="1554480"/>
            <a:ext cx="3474720" cy="2286000"/>
          </a:xfrm>
          <a:prstGeom prst="roundRect">
            <a:avLst>
              <a:gd name="adj" fmla="val 16000"/>
            </a:avLst>
          </a:prstGeom>
          <a:solidFill>
            <a:srgbClr val="06B6D4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2660" b="0">
                <a:solidFill>
                  <a:srgbClr val="1E293B"/>
                </a:solidFill>
                <a:latin typeface="Pretendard"/>
              </a:defRPr>
            </a:pPr>
            <a:r>
              <a:t>✈️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Pretendard"/>
              </a:defRPr>
            </a:pPr>
            <a:r>
              <a:t>항공 포워딩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3832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045" b="0">
                <a:solidFill>
                  <a:srgbClr val="FFFFFF"/>
                </a:solidFill>
                <a:latin typeface="Pretendard"/>
              </a:defRPr>
            </a:pPr>
            <a:r>
              <a:t>Air Freight Forwarding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554480"/>
            <a:ext cx="3474720" cy="2286000"/>
          </a:xfrm>
          <a:prstGeom prst="round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412480" y="1554480"/>
            <a:ext cx="3474720" cy="2286000"/>
          </a:xfrm>
          <a:prstGeom prst="roundRect">
            <a:avLst>
              <a:gd name="adj" fmla="val 16000"/>
            </a:avLst>
          </a:prstGeom>
          <a:solidFill>
            <a:srgbClr val="10B98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2660" b="0">
                <a:solidFill>
                  <a:srgbClr val="1E293B"/>
                </a:solidFill>
                <a:latin typeface="Pretendard"/>
              </a:defRPr>
            </a:pPr>
            <a:r>
              <a:t>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Pretendard"/>
              </a:defRPr>
            </a:pPr>
            <a:r>
              <a:t>내륙 운송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3832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045" b="0">
                <a:solidFill>
                  <a:srgbClr val="FFFFFF"/>
                </a:solidFill>
                <a:latin typeface="Pretendard"/>
              </a:defRPr>
            </a:pPr>
            <a:r>
              <a:t>Inland Transportation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023360"/>
            <a:ext cx="7132320" cy="2468880"/>
          </a:xfrm>
          <a:prstGeom prst="round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754880" y="4023360"/>
            <a:ext cx="7132320" cy="2468880"/>
          </a:xfrm>
          <a:prstGeom prst="roundRect">
            <a:avLst>
              <a:gd name="adj" fmla="val 16000"/>
            </a:avLst>
          </a:prstGeom>
          <a:solidFill>
            <a:srgbClr val="F59E0B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0" y="5043116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2660" b="0">
                <a:solidFill>
                  <a:srgbClr val="1E293B"/>
                </a:solidFill>
                <a:latin typeface="Pretendard"/>
              </a:defRPr>
            </a:pPr>
            <a:r>
              <a:t>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5408876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Pretendard"/>
              </a:defRPr>
            </a:pPr>
            <a:r>
              <a:t>프로젝트 카고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5774636"/>
            <a:ext cx="6766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045" b="0">
                <a:solidFill>
                  <a:srgbClr val="FFFFFF"/>
                </a:solidFill>
                <a:latin typeface="Pretendard"/>
              </a:defRPr>
            </a:pPr>
            <a:r>
              <a:t>Project &amp; Heavy Cargo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6003236"/>
            <a:ext cx="6766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045" b="0">
                <a:solidFill>
                  <a:srgbClr val="FFFFFF"/>
                </a:solidFill>
                <a:latin typeface="Pretendard"/>
              </a:defRPr>
            </a:pPr>
            <a:r>
              <a:rPr dirty="0" err="1"/>
              <a:t>중장비</a:t>
            </a:r>
            <a:r>
              <a:rPr dirty="0"/>
              <a:t>, </a:t>
            </a:r>
            <a:r>
              <a:rPr dirty="0" err="1"/>
              <a:t>기계류</a:t>
            </a:r>
            <a:r>
              <a:rPr dirty="0"/>
              <a:t>, </a:t>
            </a:r>
            <a:r>
              <a:rPr dirty="0" err="1"/>
              <a:t>위험물</a:t>
            </a:r>
            <a:r>
              <a:rPr dirty="0"/>
              <a:t>, </a:t>
            </a:r>
            <a:r>
              <a:rPr dirty="0" err="1"/>
              <a:t>부정기선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330" b="1">
                <a:solidFill>
                  <a:srgbClr val="5B6CF9"/>
                </a:solidFill>
                <a:latin typeface="Pretendard"/>
              </a:defRPr>
            </a:pPr>
            <a:r>
              <a:t>SUPPORT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419" b="1">
                <a:solidFill>
                  <a:srgbClr val="1E293B"/>
                </a:solidFill>
                <a:latin typeface="Pretendard"/>
              </a:defRPr>
            </a:pPr>
            <a:r>
              <a:t>파트너사를 위한</a:t>
            </a:r>
          </a:p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419" b="1">
                <a:solidFill>
                  <a:srgbClr val="1E293B"/>
                </a:solidFill>
                <a:latin typeface="Pretendard"/>
              </a:defRPr>
            </a:pPr>
            <a:r>
              <a:t>물류 인프라 지원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520" b="0">
                <a:solidFill>
                  <a:srgbClr val="64748B"/>
                </a:solidFill>
                <a:latin typeface="Pretendard"/>
              </a:defRPr>
            </a:pPr>
            <a:r>
              <a:t>포워딩 파트너사의 물류망 확장을 지원하는 든든한 인프라가 되겠습니다.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EE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77301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520" b="1">
                <a:solidFill>
                  <a:srgbClr val="5B6CF9"/>
                </a:solidFill>
                <a:latin typeface="Pretendard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709" b="1">
                <a:solidFill>
                  <a:srgbClr val="1E293B"/>
                </a:solidFill>
                <a:latin typeface="Pretendard"/>
              </a:defRPr>
            </a:pPr>
            <a:r>
              <a:t>물류 거점 보관 지원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63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520" b="0">
                <a:solidFill>
                  <a:srgbClr val="64748B"/>
                </a:solidFill>
                <a:latin typeface="Pretendard"/>
              </a:defRPr>
            </a:pPr>
            <a:r>
              <a:t>일반/보세/냉장/냉동 창고 보관 서비스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1188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EE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64169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520" b="1">
                <a:solidFill>
                  <a:srgbClr val="5B6CF9"/>
                </a:solidFill>
                <a:latin typeface="Pretendard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611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709" b="1">
                <a:solidFill>
                  <a:srgbClr val="1E293B"/>
                </a:solidFill>
                <a:latin typeface="Pretendard"/>
              </a:defRPr>
            </a:pPr>
            <a:r>
              <a:t>통관 및 서류 대행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931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520" b="0">
                <a:solidFill>
                  <a:srgbClr val="64748B"/>
                </a:solidFill>
                <a:latin typeface="Pretendard"/>
              </a:defRPr>
            </a:pPr>
            <a:r>
              <a:t>수출입 통관 원스톱 서비스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EE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51037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520" b="1">
                <a:solidFill>
                  <a:srgbClr val="5B6CF9"/>
                </a:solidFill>
                <a:latin typeface="Pretendard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709" b="1">
                <a:solidFill>
                  <a:srgbClr val="1E293B"/>
                </a:solidFill>
                <a:latin typeface="Pretendard"/>
              </a:defRPr>
            </a:pPr>
            <a:r>
              <a:t>배송 거점 제공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800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520" b="0">
                <a:solidFill>
                  <a:srgbClr val="64748B"/>
                </a:solidFill>
                <a:latin typeface="Pretendard"/>
              </a:defRPr>
            </a:pPr>
            <a:r>
              <a:t>협력사 임시 보관 및 배송 거점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492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EE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37905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520" b="1">
                <a:solidFill>
                  <a:srgbClr val="5B6CF9"/>
                </a:solidFill>
                <a:latin typeface="Pretendard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349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709" b="1">
                <a:solidFill>
                  <a:srgbClr val="1E293B"/>
                </a:solidFill>
                <a:latin typeface="Pretendard"/>
              </a:defRPr>
            </a:pPr>
            <a:r>
              <a:t>SCM/3PL 지원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669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520" b="0">
                <a:solidFill>
                  <a:srgbClr val="64748B"/>
                </a:solidFill>
                <a:latin typeface="Pretendard"/>
              </a:defRPr>
            </a:pPr>
            <a:r>
              <a:t>공급망 관리 파트너 서비스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330" b="1">
                <a:solidFill>
                  <a:srgbClr val="5B6CF9"/>
                </a:solidFill>
                <a:latin typeface="Pretendard"/>
              </a:defRPr>
            </a:pPr>
            <a:r>
              <a:t>GLOBAL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610" b="1">
                <a:solidFill>
                  <a:srgbClr val="FFFFFF"/>
                </a:solidFill>
                <a:latin typeface="Pretendard"/>
              </a:defRPr>
            </a:pPr>
            <a:r>
              <a:t>전 세계를 잇는 물류 네트워크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4480"/>
            <a:ext cx="9418320" cy="3200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754880" y="2560320"/>
            <a:ext cx="2743200" cy="118872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0" y="26974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5B6CF9"/>
                </a:solidFill>
                <a:latin typeface="Pretendard"/>
              </a:defRPr>
            </a:pPr>
            <a:r>
              <a:t>30+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94A3B8"/>
                </a:solidFill>
                <a:latin typeface="Pretendard"/>
              </a:defRPr>
            </a:pPr>
            <a:r>
              <a:t>파트너 국가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330" b="1">
                <a:solidFill>
                  <a:srgbClr val="FFFFFF"/>
                </a:solidFill>
                <a:latin typeface="Pretendard"/>
              </a:defRPr>
            </a:pPr>
            <a:r>
              <a:t>Asia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5B6CF9"/>
                </a:solidFill>
                <a:latin typeface="Pretendard"/>
              </a:defRPr>
            </a:pPr>
            <a:r>
              <a:t>8개국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51206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5257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330" b="1">
                <a:solidFill>
                  <a:srgbClr val="FFFFFF"/>
                </a:solidFill>
                <a:latin typeface="Pretendard"/>
              </a:defRPr>
            </a:pPr>
            <a:r>
              <a:t>Europe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5B6CF9"/>
                </a:solidFill>
                <a:latin typeface="Pretendard"/>
              </a:defRPr>
            </a:pPr>
            <a:r>
              <a:t>8개국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51206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5257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330" b="1">
                <a:solidFill>
                  <a:srgbClr val="FFFFFF"/>
                </a:solidFill>
                <a:latin typeface="Pretendard"/>
              </a:defRPr>
            </a:pPr>
            <a:r>
              <a:t>Middle East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5B6CF9"/>
                </a:solidFill>
                <a:latin typeface="Pretendard"/>
              </a:defRPr>
            </a:pPr>
            <a:r>
              <a:t>7개국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0" y="51206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5257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330" b="1">
                <a:solidFill>
                  <a:srgbClr val="FFFFFF"/>
                </a:solidFill>
                <a:latin typeface="Pretendard"/>
              </a:defRPr>
            </a:pPr>
            <a:r>
              <a:t>Americas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5B6CF9"/>
                </a:solidFill>
                <a:latin typeface="Pretendard"/>
              </a:defRPr>
            </a:pPr>
            <a:r>
              <a:t>6개국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51206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0" y="5257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330" b="1">
                <a:solidFill>
                  <a:srgbClr val="FFFFFF"/>
                </a:solidFill>
                <a:latin typeface="Pretendard"/>
              </a:defRPr>
            </a:pPr>
            <a:r>
              <a:t>Africa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5B6CF9"/>
                </a:solidFill>
                <a:latin typeface="Pretendard"/>
              </a:defRPr>
            </a:pPr>
            <a:r>
              <a:t>2개국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330" b="1">
                <a:solidFill>
                  <a:srgbClr val="5B6CF9"/>
                </a:solidFill>
                <a:latin typeface="Pretendard"/>
              </a:defRPr>
            </a:pPr>
            <a:r>
              <a:t>TRUSTED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419" b="1">
                <a:solidFill>
                  <a:srgbClr val="1E293B"/>
                </a:solidFill>
                <a:latin typeface="Pretendard"/>
              </a:defRPr>
            </a:pPr>
            <a:r>
              <a:t>20개 이상의 기업이</a:t>
            </a:r>
          </a:p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419" b="1">
                <a:solidFill>
                  <a:srgbClr val="1E293B"/>
                </a:solidFill>
                <a:latin typeface="Pretendard"/>
              </a:defRPr>
            </a:pPr>
            <a:r>
              <a:t>이음로지스틱과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520" b="0">
                <a:solidFill>
                  <a:srgbClr val="64748B"/>
                </a:solidFill>
                <a:latin typeface="Pretendard"/>
              </a:defRPr>
            </a:pPr>
            <a:r>
              <a:t>다양한 산업군의 주요 기업들에게 토탈 물류 서비스를 제공하고 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1E293B"/>
                </a:solidFill>
                <a:latin typeface="Pretendard"/>
              </a:defRPr>
            </a:pPr>
            <a:r>
              <a:t>가온전선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246888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34640" y="26974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1E293B"/>
                </a:solidFill>
                <a:latin typeface="Pretendard"/>
              </a:defRPr>
            </a:pPr>
            <a:r>
              <a:t>롯데제과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246888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26974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1E293B"/>
                </a:solidFill>
                <a:latin typeface="Pretendard"/>
              </a:defRPr>
            </a:pPr>
            <a:r>
              <a:t>팔도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46888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0" y="26974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1E293B"/>
                </a:solidFill>
                <a:latin typeface="Pretendard"/>
              </a:defRPr>
            </a:pPr>
            <a:r>
              <a:t>HY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46888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26974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1E293B"/>
                </a:solidFill>
                <a:latin typeface="Pretendard"/>
              </a:defRPr>
            </a:pPr>
            <a:r>
              <a:t>삼양식품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1E293B"/>
                </a:solidFill>
                <a:latin typeface="Pretendard"/>
              </a:defRPr>
            </a:pPr>
            <a:r>
              <a:t>유앤아이원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333756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34640" y="35661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1E293B"/>
                </a:solidFill>
                <a:latin typeface="Pretendard"/>
              </a:defRPr>
            </a:pPr>
            <a:r>
              <a:t>JK인터내셔널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333756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0" y="35661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1E293B"/>
                </a:solidFill>
                <a:latin typeface="Pretendard"/>
              </a:defRPr>
            </a:pPr>
            <a:r>
              <a:t>YC리싸이클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33756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0" y="35661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1E293B"/>
                </a:solidFill>
                <a:latin typeface="Pretendard"/>
              </a:defRPr>
            </a:pPr>
            <a:r>
              <a:t>에코비트프리텍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333756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35661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1E293B"/>
                </a:solidFill>
                <a:latin typeface="Pretendard"/>
              </a:defRPr>
            </a:pPr>
            <a:r>
              <a:t>롯데웰푸드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0624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4348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1E293B"/>
                </a:solidFill>
                <a:latin typeface="Pretendard"/>
              </a:defRPr>
            </a:pPr>
            <a:r>
              <a:t>CM코아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34640" y="420624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834640" y="44348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1E293B"/>
                </a:solidFill>
                <a:latin typeface="Pretendard"/>
              </a:defRPr>
            </a:pPr>
            <a:r>
              <a:t>광메탈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37760" y="420624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0" y="44348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1E293B"/>
                </a:solidFill>
                <a:latin typeface="Pretendard"/>
              </a:defRPr>
            </a:pPr>
            <a:r>
              <a:t>페트로마인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420624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44348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1E293B"/>
                </a:solidFill>
                <a:latin typeface="Pretendard"/>
              </a:defRPr>
            </a:pPr>
            <a:r>
              <a:t>나우리소스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420624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0" y="44348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1E293B"/>
                </a:solidFill>
                <a:latin typeface="Pretendard"/>
              </a:defRPr>
            </a:pPr>
            <a:r>
              <a:t>삼성헬스토리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07492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53035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1E293B"/>
                </a:solidFill>
                <a:latin typeface="Pretendard"/>
              </a:defRPr>
            </a:pPr>
            <a:r>
              <a:t>대건비철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34640" y="507492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34640" y="53035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1E293B"/>
                </a:solidFill>
                <a:latin typeface="Pretendard"/>
              </a:defRPr>
            </a:pPr>
            <a:r>
              <a:t>팔인터내셔널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37760" y="507492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37760" y="53035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1E293B"/>
                </a:solidFill>
                <a:latin typeface="Pretendard"/>
              </a:defRPr>
            </a:pPr>
            <a:r>
              <a:t>신영금속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80" y="507492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40880" y="53035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1E293B"/>
                </a:solidFill>
                <a:latin typeface="Pretendard"/>
              </a:defRPr>
            </a:pPr>
            <a:r>
              <a:t>디씨팩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0" y="507492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0" y="53035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235" b="1">
                <a:solidFill>
                  <a:srgbClr val="1E293B"/>
                </a:solidFill>
                <a:latin typeface="Pretendard"/>
              </a:defRPr>
            </a:pPr>
            <a:r>
              <a:t>브링스글로벌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330" b="1">
                <a:solidFill>
                  <a:srgbClr val="5B6CF9"/>
                </a:solidFill>
                <a:latin typeface="Pretendard"/>
              </a:defRPr>
            </a:pPr>
            <a:r>
              <a:t>PROJECT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419" b="1">
                <a:solidFill>
                  <a:srgbClr val="1E293B"/>
                </a:solidFill>
                <a:latin typeface="Pretendard"/>
              </a:defRPr>
            </a:pPr>
            <a:r>
              <a:t>프로젝트 수행 실적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520" b="0">
                <a:solidFill>
                  <a:srgbClr val="64748B"/>
                </a:solidFill>
                <a:latin typeface="Pretendard"/>
              </a:defRPr>
            </a:pPr>
            <a:r>
              <a:t>중장비, 기계류, 특수화물 등 다양한 프로젝트 카고 경험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B5DF9A3-BD1D-459F-E17A-A386650871A2}"/>
              </a:ext>
            </a:extLst>
          </p:cNvPr>
          <p:cNvGrpSpPr/>
          <p:nvPr/>
        </p:nvGrpSpPr>
        <p:grpSpPr>
          <a:xfrm>
            <a:off x="731520" y="2103120"/>
            <a:ext cx="3011081" cy="1930180"/>
            <a:chOff x="731520" y="2103120"/>
            <a:chExt cx="3566160" cy="2286000"/>
          </a:xfrm>
        </p:grpSpPr>
        <p:sp>
          <p:nvSpPr>
            <p:cNvPr id="7" name="Rectangle 6"/>
            <p:cNvSpPr/>
            <p:nvPr/>
          </p:nvSpPr>
          <p:spPr>
            <a:xfrm>
              <a:off x="731520" y="3840480"/>
              <a:ext cx="3566160" cy="54864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2103120"/>
              <a:ext cx="3566160" cy="22860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2103120"/>
              <a:ext cx="3566160" cy="173736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914400" y="3977640"/>
              <a:ext cx="3200400" cy="267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defRPr sz="1139" b="1">
                  <a:solidFill>
                    <a:srgbClr val="5B6CF9"/>
                  </a:solidFill>
                  <a:latin typeface="Pretendard"/>
                </a:defRPr>
              </a:pPr>
              <a:r>
                <a:t>해상운송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293EFE2-4467-3B24-A385-DEFEAC3102DB}"/>
              </a:ext>
            </a:extLst>
          </p:cNvPr>
          <p:cNvGrpSpPr/>
          <p:nvPr/>
        </p:nvGrpSpPr>
        <p:grpSpPr>
          <a:xfrm>
            <a:off x="4572000" y="2103120"/>
            <a:ext cx="3011081" cy="1930180"/>
            <a:chOff x="4572000" y="2103120"/>
            <a:chExt cx="3566160" cy="2286000"/>
          </a:xfrm>
        </p:grpSpPr>
        <p:sp>
          <p:nvSpPr>
            <p:cNvPr id="11" name="Rectangle 10"/>
            <p:cNvSpPr/>
            <p:nvPr/>
          </p:nvSpPr>
          <p:spPr>
            <a:xfrm>
              <a:off x="4572000" y="3840480"/>
              <a:ext cx="3566160" cy="54864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572000" y="2103120"/>
              <a:ext cx="3566160" cy="22860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2103120"/>
              <a:ext cx="3566160" cy="173736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4754880" y="3977640"/>
              <a:ext cx="3200400" cy="267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defRPr sz="1139" b="1">
                  <a:solidFill>
                    <a:srgbClr val="5B6CF9"/>
                  </a:solidFill>
                  <a:latin typeface="Pretendard"/>
                </a:defRPr>
              </a:pPr>
              <a:r>
                <a:t>프로젝트 카고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8AF6A7D-2CE2-2AF8-E9C1-4BD3DA0D2E0B}"/>
              </a:ext>
            </a:extLst>
          </p:cNvPr>
          <p:cNvGrpSpPr/>
          <p:nvPr/>
        </p:nvGrpSpPr>
        <p:grpSpPr>
          <a:xfrm>
            <a:off x="8412480" y="2103120"/>
            <a:ext cx="3011081" cy="1930180"/>
            <a:chOff x="8412480" y="2103120"/>
            <a:chExt cx="3566160" cy="2286000"/>
          </a:xfrm>
        </p:grpSpPr>
        <p:sp>
          <p:nvSpPr>
            <p:cNvPr id="15" name="Rectangle 14"/>
            <p:cNvSpPr/>
            <p:nvPr/>
          </p:nvSpPr>
          <p:spPr>
            <a:xfrm>
              <a:off x="8412480" y="3840480"/>
              <a:ext cx="3566160" cy="54864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412480" y="2103120"/>
              <a:ext cx="3566160" cy="22860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4" name="Picture 13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12480" y="2103120"/>
              <a:ext cx="3566160" cy="1737360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8595360" y="3977640"/>
              <a:ext cx="3200400" cy="267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defRPr sz="1139" b="1">
                  <a:solidFill>
                    <a:srgbClr val="5B6CF9"/>
                  </a:solidFill>
                  <a:latin typeface="Pretendard"/>
                </a:defRPr>
              </a:pPr>
              <a:r>
                <a:t>항만 하역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EA9C31A-7EF3-D7DD-58A5-16D557EDF1DD}"/>
              </a:ext>
            </a:extLst>
          </p:cNvPr>
          <p:cNvGrpSpPr/>
          <p:nvPr/>
        </p:nvGrpSpPr>
        <p:grpSpPr>
          <a:xfrm>
            <a:off x="731520" y="4444497"/>
            <a:ext cx="3011081" cy="1930180"/>
            <a:chOff x="731520" y="4663440"/>
            <a:chExt cx="3566160" cy="2286000"/>
          </a:xfrm>
        </p:grpSpPr>
        <p:sp>
          <p:nvSpPr>
            <p:cNvPr id="19" name="Rectangle 18"/>
            <p:cNvSpPr/>
            <p:nvPr/>
          </p:nvSpPr>
          <p:spPr>
            <a:xfrm>
              <a:off x="731520" y="6400800"/>
              <a:ext cx="3566160" cy="54864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31520" y="4663440"/>
              <a:ext cx="3566160" cy="22860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8" name="Picture 17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1520" y="4663440"/>
              <a:ext cx="3566160" cy="173736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914400" y="6537960"/>
              <a:ext cx="3200400" cy="267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defRPr sz="1139" b="1">
                  <a:solidFill>
                    <a:srgbClr val="5B6CF9"/>
                  </a:solidFill>
                  <a:latin typeface="Pretendard"/>
                </a:defRPr>
              </a:pPr>
              <a:r>
                <a:t>내륙운송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44517A9-CED1-1F9D-1D41-4CB20D37A596}"/>
              </a:ext>
            </a:extLst>
          </p:cNvPr>
          <p:cNvGrpSpPr/>
          <p:nvPr/>
        </p:nvGrpSpPr>
        <p:grpSpPr>
          <a:xfrm>
            <a:off x="4572000" y="4444497"/>
            <a:ext cx="3011081" cy="1930180"/>
            <a:chOff x="4572000" y="4663440"/>
            <a:chExt cx="3566160" cy="2286000"/>
          </a:xfrm>
        </p:grpSpPr>
        <p:sp>
          <p:nvSpPr>
            <p:cNvPr id="23" name="Rectangle 22"/>
            <p:cNvSpPr/>
            <p:nvPr/>
          </p:nvSpPr>
          <p:spPr>
            <a:xfrm>
              <a:off x="4572000" y="6400800"/>
              <a:ext cx="3566160" cy="54864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572000" y="4663440"/>
              <a:ext cx="3566160" cy="22860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2" name="Picture 21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72000" y="4663440"/>
              <a:ext cx="3566160" cy="173736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4754880" y="6537960"/>
              <a:ext cx="3200400" cy="267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defRPr sz="1139" b="1">
                  <a:solidFill>
                    <a:srgbClr val="5B6CF9"/>
                  </a:solidFill>
                  <a:latin typeface="Pretendard"/>
                </a:defRPr>
              </a:pPr>
              <a:r>
                <a:t>특수화물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31B8A460-F522-84AC-6D9B-8E088E7F8F28}"/>
              </a:ext>
            </a:extLst>
          </p:cNvPr>
          <p:cNvGrpSpPr/>
          <p:nvPr/>
        </p:nvGrpSpPr>
        <p:grpSpPr>
          <a:xfrm>
            <a:off x="8412480" y="4444497"/>
            <a:ext cx="3011081" cy="1930180"/>
            <a:chOff x="8412480" y="4663440"/>
            <a:chExt cx="3566160" cy="2286000"/>
          </a:xfrm>
        </p:grpSpPr>
        <p:sp>
          <p:nvSpPr>
            <p:cNvPr id="27" name="Rectangle 26"/>
            <p:cNvSpPr/>
            <p:nvPr/>
          </p:nvSpPr>
          <p:spPr>
            <a:xfrm>
              <a:off x="8412480" y="6400800"/>
              <a:ext cx="3566160" cy="54864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8412480" y="4663440"/>
              <a:ext cx="3566160" cy="22860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6" name="Picture 25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412480" y="4663440"/>
              <a:ext cx="3566160" cy="1737360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8595360" y="6537960"/>
              <a:ext cx="3200400" cy="267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defRPr sz="1139" b="1">
                  <a:solidFill>
                    <a:srgbClr val="5B6CF9"/>
                  </a:solidFill>
                  <a:latin typeface="Pretendard"/>
                </a:defRPr>
              </a:pPr>
              <a:r>
                <a:t>특수화물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6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610" b="1">
                <a:solidFill>
                  <a:srgbClr val="FFFFFF"/>
                </a:solidFill>
                <a:latin typeface="Pretendard"/>
              </a:defRPr>
            </a:pPr>
            <a:r>
              <a:t>우리는 크지 않습니다.</a:t>
            </a:r>
          </a:p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3610" b="1">
                <a:solidFill>
                  <a:srgbClr val="FFFFFF"/>
                </a:solidFill>
                <a:latin typeface="Pretendard"/>
              </a:defRPr>
            </a:pPr>
            <a:r>
              <a:t>하지만, 우리의 능력은 작지 않습니다.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93192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 sz="1709" b="0">
                <a:solidFill>
                  <a:srgbClr val="FFFFFF"/>
                </a:solidFill>
                <a:latin typeface="Pretendard"/>
              </a:defRPr>
            </a:pPr>
            <a:r>
              <a:t>저희는 경쟁이 아닌 협력을 추구합니다.</a:t>
            </a:r>
          </a:p>
          <a:p>
            <a:pPr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 sz="1709" b="0">
                <a:solidFill>
                  <a:srgbClr val="FFFFFF"/>
                </a:solidFill>
                <a:latin typeface="Pretendard"/>
              </a:defRPr>
            </a:pPr>
            <a:r>
              <a:t>포워딩 파트너사의 물류망 확장을 지원하는 든든한 인프라가 되겠습니다.</a:t>
            </a:r>
          </a:p>
          <a:p>
            <a:pPr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 sz="1709" b="0">
                <a:solidFill>
                  <a:srgbClr val="FFFFFF"/>
                </a:solidFill>
                <a:latin typeface="Pretendard"/>
              </a:defRPr>
            </a:pPr>
            <a:r>
              <a:t>무엇을 해야 할지, 어떻게 해야 할지, 어디로 가야 할지 잘 알고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5320" b="1">
                <a:solidFill>
                  <a:srgbClr val="FFFFFF"/>
                </a:solidFill>
                <a:latin typeface="Pretendard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709" b="0">
                <a:solidFill>
                  <a:srgbClr val="94A3B8"/>
                </a:solidFill>
                <a:latin typeface="Pretendard"/>
              </a:defRPr>
            </a:pPr>
            <a:r>
              <a:t>신뢰를 잇는 물류, 세계를 잇는 파트너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2090" b="1">
                <a:solidFill>
                  <a:srgbClr val="FFFFFF"/>
                </a:solidFill>
                <a:latin typeface="Pretendard"/>
              </a:defRPr>
            </a:pPr>
            <a:r>
              <a:t>이음 로지스틱 주식회사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94A3B8"/>
                </a:solidFill>
                <a:latin typeface="Pretendard"/>
              </a:defRPr>
            </a:pPr>
            <a:r>
              <a:t>🌐 www.e-umlk.com    ✉️ info@e-umlk.com    📞 +82 2 3662 8150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defRPr sz="1139" b="0">
                <a:solidFill>
                  <a:srgbClr val="64748B"/>
                </a:solidFill>
                <a:latin typeface="Pretendard"/>
              </a:defRPr>
            </a:pPr>
            <a:r>
              <a:t>© 2025 EUM LOGISTIC CO., LTD.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513</Words>
  <Application>Microsoft Office PowerPoint</Application>
  <PresentationFormat>와이드스크린</PresentationFormat>
  <Paragraphs>159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교린 김</cp:lastModifiedBy>
  <cp:revision>2</cp:revision>
  <dcterms:created xsi:type="dcterms:W3CDTF">2013-01-27T09:14:16Z</dcterms:created>
  <dcterms:modified xsi:type="dcterms:W3CDTF">2025-11-27T20:17:59Z</dcterms:modified>
  <cp:category/>
</cp:coreProperties>
</file>